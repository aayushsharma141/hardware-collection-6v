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C5E">
              <a:alpha val="80000"/>
            </a:srgbClr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57200"/>
            <a:ext cx="2377440" cy="2377440"/>
          </a:xfrm>
          <a:prstGeom prst="oval">
            <a:avLst/>
          </a:prstGeom>
          <a:solidFill>
            <a:srgbClr val="E8522A">
              <a:alpha val="20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77724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8288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SAKCHI, JAMSHEDPUR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9040" y="731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49040" y="11887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3749040" y="18288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4200" dirty="0"/>
          </a:p>
        </p:txBody>
      </p:sp>
      <p:sp>
        <p:nvSpPr>
          <p:cNvPr id="14" name="Shape 11"/>
          <p:cNvSpPr/>
          <p:nvPr/>
        </p:nvSpPr>
        <p:spPr>
          <a:xfrm>
            <a:off x="3749040" y="2743200"/>
            <a:ext cx="5029200" cy="2743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49040" y="2880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Local Conversion Model  |  90-Day Execution Plan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74904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904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GMB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0936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589520" y="3429000"/>
            <a:ext cx="1188720" cy="347472"/>
          </a:xfrm>
          <a:prstGeom prst="rect">
            <a:avLst>
              <a:gd name="adj" fmla="val 26316"/>
            </a:avLst>
          </a:prstGeom>
          <a:solidFill>
            <a:srgbClr val="E1306C">
              <a:alpha val="80000"/>
            </a:srgbClr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89520" y="3429000"/>
            <a:ext cx="1188720" cy="34747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0" y="3429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74904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Hardware Collection — Competitive Analysis &amp; Growth Roadmap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4-Pillar Local Conversion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in Jamshedpur discover, evaluate, and visit local hardware shops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188720"/>
            <a:ext cx="3474720" cy="548640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368" y="12984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64992" y="12252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Facebook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64992" y="148132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Awareness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94660" y="1874520"/>
            <a:ext cx="3154680" cy="5486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88" y="19842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5012" y="1911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5012" y="2167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2560320"/>
            <a:ext cx="2834640" cy="54864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6700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85032" y="25968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Listing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85032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Reviews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314700" y="3246120"/>
            <a:ext cx="2514600" cy="54864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428" y="335584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45052" y="32826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Inquiry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845052" y="3538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Availability, Info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474720" y="3931920"/>
            <a:ext cx="2194560" cy="548640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404164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05072" y="3968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Visit &amp; Purchase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005072" y="42245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Conversion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583680" y="1188720"/>
            <a:ext cx="233172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83680" y="1188720"/>
            <a:ext cx="2331720" cy="45720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675120" y="12801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FUNNEL?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67512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local discovery via Google Maps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#1 communication tool in Jamshedpur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market: 65%+ searches on phone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competition from local hardware shops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builds brand recall before search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182880" y="1188720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82880" y="11430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82880" y="2560320"/>
            <a:ext cx="219456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182880" y="25146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182880" y="3931920"/>
            <a:ext cx="21945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82880" y="38862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Priority Order — What to Build First &amp; Why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based on Jamshedpur Tier-2 market behaviour and conversion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0" cy="841248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1307592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362456"/>
            <a:ext cx="374904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2161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00200" y="1655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69080" y="123444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0" y="121615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high-intent buyers already searching 'hardware shop Sakchi' — direct revenue impact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123444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5160" y="121615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local discovery via Google Maps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already ready to buy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creative effort needed from buyer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10312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103120"/>
            <a:ext cx="640080" cy="84124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286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1005840" y="2267712"/>
            <a:ext cx="502920" cy="502920"/>
          </a:xfrm>
          <a:prstGeom prst="oval">
            <a:avLst/>
          </a:prstGeom>
          <a:solidFill>
            <a:srgbClr val="25D366">
              <a:alpha val="85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322576"/>
            <a:ext cx="374904" cy="3749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00200" y="21762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600200" y="26151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7–14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069080" y="219456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206240" y="217627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GBP traffic into actual inquiries — the primary communication channel for Jamshedpur buyers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858000" y="219456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995160" y="217627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inquiry tool in Tier-2 cities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 inquiry-to-visit conversion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instant, personal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74320" y="306324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74320" y="3063240"/>
            <a:ext cx="64008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4320" y="3246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1005840" y="3227832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282696"/>
            <a:ext cx="374904" cy="37490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600200" y="31363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/ Landing Page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600200" y="35753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14–30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069080" y="315468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206240" y="313639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long-term credibility and boosts SEO authority — supports all other pillars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6858000" y="315468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995160" y="313639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legitimacy to Google algorithm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paid advertising campaigns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leads via forms &amp; calls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274320" y="402336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274320" y="4023360"/>
            <a:ext cx="640080" cy="841248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7432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2" name="Shape 37"/>
          <p:cNvSpPr/>
          <p:nvPr/>
        </p:nvSpPr>
        <p:spPr>
          <a:xfrm>
            <a:off x="1005840" y="4187952"/>
            <a:ext cx="502920" cy="502920"/>
          </a:xfrm>
          <a:prstGeom prst="oval">
            <a:avLst/>
          </a:prstGeom>
          <a:solidFill>
            <a:srgbClr val="E1306C">
              <a:alpha val="85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242816"/>
            <a:ext cx="374904" cy="37490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600200" y="4096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/ Facebook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1600200" y="45354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21–45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069080" y="411480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206240" y="409651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top-of-funnel awareness and brand recall — feeds Google Search volume over time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6858000" y="4114800"/>
            <a:ext cx="36576" cy="6583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995160" y="409651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brand before purchase intent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&amp; seasonal campaigns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presence in Sakchi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Google Business Profile (GBP)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high-intent customers already searching for hardware in Sakchi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4114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OPTIMIZATION ACTIONS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00784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72821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16642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 categories: Hardware Store (primary) + Plumbing, Paints, Electrical, Builders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1480" y="2130552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15798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20939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80+ photos: storefront, products, staff, customer experience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11480" y="2560320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58775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25237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Keyword-rich business description: mention Sakchi, Jamshedpur, key products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11480" y="2990088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017520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4672" y="29535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200 reviews: WhatsApp requests, QR codes, staff training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11480" y="3419856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447288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4672" y="33832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Google Posts per week: offers, new stock, Hindi + English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11480" y="3849624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" y="3877056"/>
            <a:ext cx="219456" cy="21945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04672" y="38130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10+ Q&amp;As: delivery, timings, contractor pricing, brands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411480" y="4279392"/>
            <a:ext cx="292608" cy="292608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" y="4306824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04672" y="42428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50+ product listings with prices in GBP product catalogue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663440" y="1143000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4663440" y="1143000"/>
            <a:ext cx="42062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475488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90 DAYS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54480"/>
          <a:ext cx="4206240" cy="1216152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371600"/>
              </a:tblGrid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Reviews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Views/Month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Calls/Month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2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" name="Shape 24"/>
          <p:cNvSpPr/>
          <p:nvPr/>
        </p:nvSpPr>
        <p:spPr>
          <a:xfrm>
            <a:off x="466344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4663440" y="2926080"/>
            <a:ext cx="4206240" cy="4114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4754880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SEARCH TERMS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4800600" y="3429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shop Sakchi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7818120" y="3447288"/>
            <a:ext cx="914400" cy="18288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7818120" y="3447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1" name="Text 30"/>
          <p:cNvSpPr/>
          <p:nvPr/>
        </p:nvSpPr>
        <p:spPr>
          <a:xfrm>
            <a:off x="4800600" y="36758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fittings Jamshedpur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7818120" y="3694176"/>
            <a:ext cx="914400" cy="18288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7818120" y="3694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4" name="Text 33"/>
          <p:cNvSpPr/>
          <p:nvPr/>
        </p:nvSpPr>
        <p:spPr>
          <a:xfrm>
            <a:off x="4800600" y="3922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handles dealer Sakchi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7818120" y="3941064"/>
            <a:ext cx="914400" cy="182880"/>
          </a:xfrm>
          <a:prstGeom prst="rect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7818120" y="3941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7" name="Text 36"/>
          <p:cNvSpPr/>
          <p:nvPr/>
        </p:nvSpPr>
        <p:spPr>
          <a:xfrm>
            <a:off x="4800600" y="4169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near me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7818120" y="4187952"/>
            <a:ext cx="914400" cy="182880"/>
          </a:xfrm>
          <a:prstGeom prst="rect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7818120" y="4187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0" name="Text 39"/>
          <p:cNvSpPr/>
          <p:nvPr/>
        </p:nvSpPr>
        <p:spPr>
          <a:xfrm>
            <a:off x="4800600" y="44165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shop Jamshedpur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7818120" y="4434840"/>
            <a:ext cx="914400" cy="182880"/>
          </a:xfrm>
          <a:prstGeom prst="rect">
            <a:avLst/>
          </a:prstGeom>
          <a:solidFill>
            <a:srgbClr val="1A3C5E">
              <a:alpha val="80000"/>
            </a:srgbClr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7818120" y="4434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53" name="Text 42"/>
          <p:cNvSpPr/>
          <p:nvPr/>
        </p:nvSpPr>
        <p:spPr>
          <a:xfrm>
            <a:off x="4800600" y="46634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ki dukan Sakchi (Hindi)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7818120" y="4681728"/>
            <a:ext cx="914400" cy="1828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7818120" y="4681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WhatsApp Business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Google search traffic into real inquiries and store visits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303520" cy="4114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OPTIMIZATION CHECKLIST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3736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16916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Profile Setup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19202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name, category, address, business hours, profile photo, website link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24028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2194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Catalogue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2960" y="24231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products with photos, prices, and descriptions: fittings, paints, tools, cement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1480" y="274320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26974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Message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" y="29260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'Welcome to Hardware Collection, Sakchi! How can we help you today?'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24612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32004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Message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22960" y="34290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 after hours: 'We're closed now. Open at [time]. Your query will be answered first thing!'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74904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2960" y="37033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22960" y="39319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Pre-saved: prices, location, delivery info, contractor discounts, product availability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11480" y="4251960"/>
            <a:ext cx="320040" cy="320040"/>
          </a:xfrm>
          <a:prstGeom prst="oval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22960" y="420624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System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22960" y="44348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chats: New Inquiry, Follow-up, Order Placed, Regular Customer, Contractor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852160" y="1143000"/>
            <a:ext cx="30175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852160" y="1143000"/>
            <a:ext cx="3017520" cy="41148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QUICK REPLY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989320" y="1664208"/>
            <a:ext cx="2743200" cy="1417320"/>
          </a:xfrm>
          <a:prstGeom prst="rect">
            <a:avLst/>
          </a:prstGeom>
          <a:solidFill>
            <a:srgbClr val="1A3A2A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80760" y="17190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7A72B"/>
                </a:solidFill>
              </a:rPr>
              <a:t xml:space="preserve">Customer: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 you have premium bathroom fittings?
</a:t>
            </a:r>
            <a:endParaRPr lang="en-US" sz="9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5D366"/>
                </a:solidFill>
              </a:rPr>
              <a:t xml:space="preserve">Hardware Collection: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Yes! We stock Jaquar, Hindware &amp; Cera. Visit us at Sakchi or call for prices. Delivery available!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52160" y="3383280"/>
            <a:ext cx="3017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852160" y="3383280"/>
            <a:ext cx="301752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0" y="344728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989320" y="38221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Inquiries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98080" y="3822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per day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989320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Inquiry→Visit Rate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498080" y="4069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989320" y="43159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498080" y="4315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989320" y="45628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498080" y="4562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Website / Landing 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headquarters to support SEO, credibility, and advertising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070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PAGE STRUCTURE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0992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691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6928" y="1920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image, key products, WhatsApp CTA, Google Maps embed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11480" y="2212848"/>
            <a:ext cx="54864" cy="347472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194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2423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Plumbing, Paints, Electrical, Hardware, Sanitary, Tools — keyword-rich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715768"/>
            <a:ext cx="54864" cy="347472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6974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29260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story, years of experience, owner photo, trust signals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218688"/>
            <a:ext cx="54864" cy="34747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2004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66928" y="34290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Sakchi, Bistupur, Kadma, Jugsalai, Telco — local SEO pages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721608"/>
            <a:ext cx="54864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703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+ Map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66928" y="3931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consistent with GMB, embedded Google Map, WhatsApp button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1480" y="4224528"/>
            <a:ext cx="54864" cy="347472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4206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/ Blog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6928" y="4434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deals, product guides, 'How to' content for SEO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434840" y="1143000"/>
            <a:ext cx="4434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34840" y="1143000"/>
            <a:ext cx="44348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26280" y="1207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KEYWORD TARGET PAGES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26280" y="1682496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44568" y="170078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 fittings Jamshedpur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86600" y="17007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 + H1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26280" y="1975104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44568" y="1993392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hardware Sakchi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086600" y="1993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product page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26280" y="2267712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44568" y="2286000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hardware store Jamshedpur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086600" y="22860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landing page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26280" y="2560320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44568" y="2578608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 supplies near me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086600" y="2578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 page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26280" y="2852928"/>
            <a:ext cx="246888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44568" y="287121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shop Sakchi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086600" y="2871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blog content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434840" y="3246120"/>
            <a:ext cx="4434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434840" y="3246120"/>
            <a:ext cx="44348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26280" y="33101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526280" y="371246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Website Visitors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7223760" y="371246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300–600 / month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526280" y="399592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7223760" y="39959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leads / month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4526280" y="427939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 Ranking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7223760" y="42793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results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4526280" y="45628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Authority Boost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7223760" y="456285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profile views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Instagram &amp; Facebook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local awareness, brand recall, and drive discovery traffic to Google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88920" cy="5486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25880"/>
            <a:ext cx="502920" cy="502920"/>
          </a:xfrm>
          <a:prstGeom prst="oval">
            <a:avLst/>
          </a:prstGeom>
          <a:solidFill>
            <a:srgbClr val="E1306C">
              <a:alpha val="85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8988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Stock Arrivals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Photo/reel of new products: 'New Jaquar fittings just arrived at Hardware Collection, Sakchi!'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27832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7832" y="1188720"/>
            <a:ext cx="2788920" cy="54864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1325880"/>
            <a:ext cx="502920" cy="502920"/>
          </a:xfrm>
          <a:prstGeom prst="oval">
            <a:avLst/>
          </a:prstGeom>
          <a:solidFill>
            <a:srgbClr val="1877F2">
              <a:alpha val="85000"/>
            </a:srgbClr>
          </a:solidFill>
          <a:ln w="12700">
            <a:solidFill>
              <a:srgbClr val="1877F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89888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Stories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64992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renovation photos, happy customer testimonials — builds trust and social proof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81344" y="118872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81344" y="1188720"/>
            <a:ext cx="2788920" cy="54864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18504" y="1325880"/>
            <a:ext cx="502920" cy="502920"/>
          </a:xfrm>
          <a:prstGeom prst="oval">
            <a:avLst/>
          </a:prstGeom>
          <a:solidFill>
            <a:srgbClr val="F7A72B">
              <a:alpha val="85000"/>
            </a:srgbClr>
          </a:solidFill>
          <a:ln w="12700">
            <a:solidFill>
              <a:srgbClr val="F7A72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89888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31152" y="1298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Offers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18504" y="19019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Diwali, Durga Puja, Republic Day discount posts — drive urgency and footfall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74320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26974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1480" y="2834640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898648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24128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11480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tours, unboxing new shipments, staff introductions — humanizes the brand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27832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27832" y="2697480"/>
            <a:ext cx="2788920" cy="54864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64992" y="2834640"/>
            <a:ext cx="502920" cy="502920"/>
          </a:xfrm>
          <a:prstGeom prst="oval">
            <a:avLst/>
          </a:prstGeom>
          <a:solidFill>
            <a:srgbClr val="1A3C5E">
              <a:alpha val="85000"/>
            </a:srgbClr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898648"/>
            <a:ext cx="374904" cy="37490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77640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364992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'Did you know?' posts: how to choose the right fittings, paint selection tips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181344" y="269748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81344" y="2697480"/>
            <a:ext cx="2788920" cy="54864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318504" y="2834640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898648"/>
            <a:ext cx="374904" cy="37490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31152" y="2807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Geotags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6318504" y="34107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tag: Sakchi, Bistupur, Jubilee Park, Jamshedpur — boosts local discovery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315968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32688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932688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Target</a:t>
            </a:r>
            <a:endParaRPr lang="en-US" sz="9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4912" y="4315968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3108960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1600" dirty="0"/>
          </a:p>
        </p:txBody>
      </p:sp>
      <p:sp>
        <p:nvSpPr>
          <p:cNvPr id="48" name="Text 38"/>
          <p:cNvSpPr/>
          <p:nvPr/>
        </p:nvSpPr>
        <p:spPr>
          <a:xfrm>
            <a:off x="3108960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Reach</a:t>
            </a:r>
            <a:endParaRPr lang="en-US" sz="9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4315968"/>
            <a:ext cx="292608" cy="29260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285232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10–20/month</a:t>
            </a:r>
            <a:endParaRPr lang="en-US" sz="1600" dirty="0"/>
          </a:p>
        </p:txBody>
      </p:sp>
      <p:sp>
        <p:nvSpPr>
          <p:cNvPr id="51" name="Text 40"/>
          <p:cNvSpPr/>
          <p:nvPr/>
        </p:nvSpPr>
        <p:spPr>
          <a:xfrm>
            <a:off x="5285232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Inquiries</a:t>
            </a:r>
            <a:endParaRPr lang="en-US" sz="9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456" y="4315968"/>
            <a:ext cx="292608" cy="29260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461504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5×/week</a:t>
            </a:r>
            <a:endParaRPr lang="en-US" sz="1600" dirty="0"/>
          </a:p>
        </p:txBody>
      </p:sp>
      <p:sp>
        <p:nvSpPr>
          <p:cNvPr id="54" name="Text 42"/>
          <p:cNvSpPr/>
          <p:nvPr/>
        </p:nvSpPr>
        <p:spPr>
          <a:xfrm>
            <a:off x="7461504" y="4553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Frequency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 — Jamshedpur vs Metro Cities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&amp; agency pricing analysis across Tier-2 and Tier-1 markets (INR)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8595360" cy="3200400"/>
        </p:xfrm>
        <a:graphic>
          <a:graphicData uri="http://schemas.openxmlformats.org/drawingml/2006/table">
            <a:tbl>
              <a:tblPr/>
              <a:tblGrid>
                <a:gridCol w="1874520"/>
                <a:gridCol w="1097280"/>
                <a:gridCol w="1097280"/>
                <a:gridCol w="1005840"/>
                <a:gridCol w="1005840"/>
                <a:gridCol w="1005840"/>
                <a:gridCol w="100584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Jamshedpur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Jamshedpur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2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Kolkata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GBP Setup &amp;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₹3k–7k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₹10k–15k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₹20k–30k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₹18k–28k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₹22k–35k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Business Setup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₹2k–5k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₹7k–12k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₹10k–18k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 / Website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₹5k–12k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₹15k–30k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₹30k–70k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₹25k–55k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₹28k–65k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 (monthly)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₹8k–15k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₹20k–40k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₹45k–80k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₹35k–65k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₹40k–70k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₹50k–90k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Bundle (one-time)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₹12k–18k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₹35k–55k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₹65k–120k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₹55k–95k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₹60k–110k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₹75k–130k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480560"/>
            <a:ext cx="41148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Green = Jamshedpur pricing — 60–75% cheaper than metro rates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4480560"/>
            <a:ext cx="420624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4544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Negotiate bundle pricing: Target ₹12k–18k for GMB + WhatsApp + Landing Page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Metro Agencies Cost More — &amp; Why You Don't Need Them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comparison of what you actually need vs. what metro agencies charge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02336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METRO AGENCIES CHARGE FOR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76479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282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SEO Tool Subscriptions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₹5k–15k/mo overhead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26771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2311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Design Teams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4505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person teams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77063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7340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Campaign Managers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9535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specialists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27355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2369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Analytics Platforms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77647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37398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Office &amp; Overhead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9593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real estate costs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4279392"/>
            <a:ext cx="256032" cy="2560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279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2428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Consultants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4622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campaign scope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1143000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1143000"/>
            <a:ext cx="429768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207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NEED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176479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1764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1728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Expert (Tier-2 Market)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10912" y="19476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Jamshedpur search patterns, local keywords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26771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10912" y="2231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Setup Specialist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10912" y="24505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quick replies, automation flows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77063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7706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10912" y="2734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Landing Page Developer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10912" y="29535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fast, SEO-optimised, ₹5k–12k total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10912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Manager (Local)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10912" y="34564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local culture, festivals, Hindi content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77647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7764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10912" y="37398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Generation Coach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10912" y="3959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staff, creates QR systems, manages responses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279392"/>
            <a:ext cx="256032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42793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10912" y="42428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KPI Reporting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10912" y="4462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dashboard: calls, views, directions, reviews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Strategy — Getting the Best Deal from Freelancers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negotiate with remote or local digital marketing freelancers effectively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26464"/>
            <a:ext cx="411480" cy="411480"/>
          </a:xfrm>
          <a:prstGeom prst="oval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26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on Tier-2 Market Scope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1664208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82496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target audience is local Sakchi customers. We need pricing aligned with Tier-2 market rates, not metro campaign budgets."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353312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4264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Typically reduces quoted price by 20–30% immediately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130552"/>
            <a:ext cx="411480" cy="4114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Bundle Package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2368296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38658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you bundle GMB optimization + WhatsApp setup + Landing Page together? We're looking for a complete solution at ₹12k–₹18k."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2057400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1305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Saves 25–40% vs. buying services individually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834640"/>
            <a:ext cx="411480" cy="411480"/>
          </a:xfrm>
          <a:prstGeom prst="oval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Outcomes, Not Tasks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3072384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09067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"We'd like to tie payment milestones to results: 50% upfront, 50% when we hit 50 reviews and Top 5 Maps ranking."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834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Aligns freelancer incentives with your business goals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538728"/>
            <a:ext cx="411480" cy="411480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Testimonial &amp; Referral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14400" y="3776472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79476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results are good, we'll refer you to 3–4 other businesses in Sakchi and give you a strong Google review."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9320" y="3465576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538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Often earns 15–25% discount in exchange for portfolio case study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" y="4242816"/>
            <a:ext cx="411480" cy="411480"/>
          </a:xfrm>
          <a:prstGeom prst="oval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with Competitive Quotes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14400" y="4480560"/>
            <a:ext cx="4937760" cy="20116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49884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"We've received quotes from two other freelancers. Your work looks best — can you match ₹X so we can move forward with you?"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4169664"/>
            <a:ext cx="278892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42428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Creates urgency; most freelancers will negotiate to close the deal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Execution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action plan for Hardware Collection, Sakchi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2788920" cy="59436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(Days 1–30)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&amp; fully optimize GBP profile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30+ photos (storefront, products, staff)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Business with catalogue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greeting, away &amp; quick replies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review generation (target: 15 reviews)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keyword research for Jamshedpur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existing citations for NAP consistency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188720"/>
            <a:ext cx="2788920" cy="59436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(Days 31–60)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basic landing page / website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50+ products to GBP catalogue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 review campaign (target: 20 more)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3 Google Posts per week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15+ local citations (Justdial, Sulekha, etc.)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Instagram &amp; Facebook pages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10+ Q&amp;As on GBP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18872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188720"/>
            <a:ext cx="278892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216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2200" y="1490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(Days 61–90)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0488" y="1874520"/>
            <a:ext cx="257860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festival / seasonal social media campaigns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short video content (Reels, product demos)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Google Ads (₹200–500/day)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website for local SEO keywords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200 review target — sprint push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GBP Insights and double down on winners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Top 3 Google Maps ranking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Expected Outcomes — All 4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Collection, Sakchi | Consolidated performance projections and ROI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011680" cy="4572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16152"/>
            <a:ext cx="502920" cy="502920"/>
          </a:xfrm>
          <a:prstGeom prst="oval">
            <a:avLst/>
          </a:prstGeom>
          <a:solidFill>
            <a:srgbClr val="E8522A">
              <a:alpha val="85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80160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→ 200+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50592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143000"/>
            <a:ext cx="2011680" cy="457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42032" y="1216152"/>
            <a:ext cx="502920" cy="502920"/>
          </a:xfrm>
          <a:prstGeom prst="oval">
            <a:avLst/>
          </a:prstGeom>
          <a:solidFill>
            <a:srgbClr val="1A3C5E">
              <a:alpha val="85000"/>
            </a:srgbClr>
          </a:solidFill>
          <a:ln w="12700">
            <a:solidFill>
              <a:srgbClr val="1A3C5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280160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36392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Calls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542032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→ 80–100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626864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114300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18304" y="1216152"/>
            <a:ext cx="502920" cy="502920"/>
          </a:xfrm>
          <a:prstGeom prst="oval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280160"/>
            <a:ext cx="374904" cy="374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12664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Requests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718304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→ 120+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03136" y="114300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03136" y="1143000"/>
            <a:ext cx="20116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94576" y="1216152"/>
            <a:ext cx="502920" cy="502920"/>
          </a:xfrm>
          <a:prstGeom prst="oval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1280160"/>
            <a:ext cx="374904" cy="3749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88936" y="12070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Visit Increase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894576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+50%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274320" y="2697480"/>
            <a:ext cx="8595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2697480"/>
            <a:ext cx="85953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11480" y="27614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PILLAR-BY-PILLAR OUTCOME SUMMARY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99816"/>
          <a:ext cx="8595360" cy="1764792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463040"/>
                <a:gridCol w="1371600"/>
                <a:gridCol w="2377440"/>
              </a:tblGrid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Goal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GMB / Google 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search traffic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Views/mo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Direct walk-ins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Business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inquiries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Inquiries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5–10/day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20–40% conversion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/ SEO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digital authority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Visitors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Lead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9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Instagram/Facebook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brand awareness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Long-term 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8229600" cy="7315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70348"/>
            <a:ext cx="8229600" cy="73152"/>
          </a:xfrm>
          <a:prstGeom prst="rect">
            <a:avLst/>
          </a:prstGeom>
          <a:solidFill>
            <a:srgbClr val="F7A72B"/>
          </a:solidFill>
          <a:ln w="12700">
            <a:solidFill>
              <a:srgbClr val="F7A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without a digital strategy is a customer lost to your competitor.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11680"/>
            <a:ext cx="1828800" cy="54864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103120"/>
            <a:ext cx="502920" cy="502920"/>
          </a:xfrm>
          <a:prstGeom prst="oval">
            <a:avLst/>
          </a:prstGeom>
          <a:solidFill>
            <a:srgbClr val="E8522A">
              <a:alpha val="80000"/>
            </a:srgbClr>
          </a:solidFill>
          <a:ln w="12700">
            <a:solidFill>
              <a:srgbClr val="E8522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167128"/>
            <a:ext cx="374904" cy="374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your Google Business Profile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9748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97480" y="2011680"/>
            <a:ext cx="1828800" cy="5486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55848" y="2103120"/>
            <a:ext cx="502920" cy="502920"/>
          </a:xfrm>
          <a:prstGeom prst="oval">
            <a:avLst/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167128"/>
            <a:ext cx="374904" cy="37490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8892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8892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WhatsApp Business catalogue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6344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63440" y="201168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21808" y="2103120"/>
            <a:ext cx="502920" cy="502920"/>
          </a:xfrm>
          <a:prstGeom prst="oval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167128"/>
            <a:ext cx="374904" cy="3749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488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5488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your local landing page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629400" y="2011680"/>
            <a:ext cx="1828800" cy="1463040"/>
          </a:xfrm>
          <a:prstGeom prst="rect">
            <a:avLst/>
          </a:prstGeom>
          <a:solidFill>
            <a:srgbClr val="0A2540"/>
          </a:solidFill>
          <a:ln w="12700">
            <a:solidFill>
              <a:srgbClr val="E130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29400" y="2011680"/>
            <a:ext cx="1828800" cy="54864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287768" y="2103120"/>
            <a:ext cx="502920" cy="502920"/>
          </a:xfrm>
          <a:prstGeom prst="oval">
            <a:avLst/>
          </a:prstGeom>
          <a:solidFill>
            <a:srgbClr val="E1306C">
              <a:alpha val="80000"/>
            </a:srgbClr>
          </a:solidFill>
          <a:ln w="12700">
            <a:solidFill>
              <a:srgbClr val="E1306C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167128"/>
            <a:ext cx="374904" cy="3749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20840" y="2679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720840" y="296265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on Instagram &amp; Facebook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solidFill>
            <a:srgbClr val="E8522A"/>
          </a:solidFill>
          <a:ln w="12700">
            <a:solidFill>
              <a:srgbClr val="E85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Target: Top 3 Google Maps Ranking in 90 Days — Sakchi, Jamshedpur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Hardware Collection — Sakchi, Jamshedpur  |  Digital Marketing Strategy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Collection Sakchi – Digital Marketing Strategy</dc:title>
  <dc:subject>PptxGenJS Presentation</dc:subject>
  <dc:creator>PptxGenJS</dc:creator>
  <cp:lastModifiedBy>PptxGenJS</cp:lastModifiedBy>
  <cp:revision>1</cp:revision>
  <dcterms:created xsi:type="dcterms:W3CDTF">2026-03-08T08:25:06Z</dcterms:created>
  <dcterms:modified xsi:type="dcterms:W3CDTF">2026-03-08T08:25:06Z</dcterms:modified>
</cp:coreProperties>
</file>